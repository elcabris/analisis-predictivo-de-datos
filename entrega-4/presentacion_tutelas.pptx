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2.xml" ContentType="application/vnd.ms-office.chart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style1.xml" ContentType="application/vnd.ms-office.chartstyle+xml"/>
  <Override PartName="/ppt/charts/colors3.xml" ContentType="application/vnd.ms-office.chartcolorstyl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0F2A4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F2A4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A4A7A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A4A7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6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subsidiariedad_cumplida</c:v>
                </c:pt>
                <c:pt idx="1">
                  <c:v>afecta_salud</c:v>
                </c:pt>
                <c:pt idx="2">
                  <c:v>urgencia</c:v>
                </c:pt>
                <c:pt idx="3">
                  <c:v>edad_aproximada</c:v>
                </c:pt>
                <c:pt idx="4">
                  <c:v>representacion_directo</c:v>
                </c:pt>
                <c:pt idx="5">
                  <c:v>año</c:v>
                </c:pt>
                <c:pt idx="6">
                  <c:v>dias_desde_hecho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0.74</c:v>
                </c:pt>
                <c:pt idx="1">
                  <c:v>0.098</c:v>
                </c:pt>
                <c:pt idx="2">
                  <c:v>0.069</c:v>
                </c:pt>
                <c:pt idx="3">
                  <c:v>0.042</c:v>
                </c:pt>
                <c:pt idx="4">
                  <c:v>0.032</c:v>
                </c:pt>
                <c:pt idx="5">
                  <c:v>0.01</c:v>
                </c:pt>
                <c:pt idx="6">
                  <c:v>0.009</c:v>
                </c:pt>
              </c:numCache>
            </c:numRef>
          </c:val>
        </c:ser>
        <c:gapWidth val="150"/>
        <c:overlap val="0"/>
        <c:axId val="81121280"/>
        <c:axId val="33583252"/>
      </c:barChart>
      <c:catAx>
        <c:axId val="811212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E293B"/>
                </a:solidFill>
                <a:uFillTx/>
                <a:latin typeface="Arial"/>
              </a:defRPr>
            </a:pPr>
          </a:p>
        </c:txPr>
        <c:crossAx val="33583252"/>
        <c:crosses val="autoZero"/>
        <c:auto val="1"/>
        <c:lblAlgn val="ctr"/>
        <c:lblOffset val="100"/>
        <c:noMultiLvlLbl val="0"/>
      </c:catAx>
      <c:valAx>
        <c:axId val="33583252"/>
        <c:scaling>
          <c:orientation val="minMax"/>
          <c:max val="0.8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8112128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0F2A4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F2A4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A4A7A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A4A7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64748B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6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7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subsidiariedad_cumplida</c:v>
                </c:pt>
                <c:pt idx="1">
                  <c:v>urgencia</c:v>
                </c:pt>
                <c:pt idx="2">
                  <c:v>afecta_salud</c:v>
                </c:pt>
                <c:pt idx="3">
                  <c:v>medio_es_idoneo</c:v>
                </c:pt>
                <c:pt idx="4">
                  <c:v>afecta_minimo vital</c:v>
                </c:pt>
                <c:pt idx="5">
                  <c:v>dias_desde_hecho</c:v>
                </c:pt>
                <c:pt idx="6">
                  <c:v>año</c:v>
                </c:pt>
                <c:pt idx="7">
                  <c:v>perjuicio_irrem._probado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0.553</c:v>
                </c:pt>
                <c:pt idx="1">
                  <c:v>0.181</c:v>
                </c:pt>
                <c:pt idx="2">
                  <c:v>0.056</c:v>
                </c:pt>
                <c:pt idx="3">
                  <c:v>0.046</c:v>
                </c:pt>
                <c:pt idx="4">
                  <c:v>0.036</c:v>
                </c:pt>
                <c:pt idx="5">
                  <c:v>0.033</c:v>
                </c:pt>
                <c:pt idx="6">
                  <c:v>0.025</c:v>
                </c:pt>
                <c:pt idx="7">
                  <c:v>0.023</c:v>
                </c:pt>
              </c:numCache>
            </c:numRef>
          </c:val>
        </c:ser>
        <c:gapWidth val="150"/>
        <c:overlap val="0"/>
        <c:axId val="38370776"/>
        <c:axId val="24373917"/>
      </c:barChart>
      <c:catAx>
        <c:axId val="383707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E293B"/>
                </a:solidFill>
                <a:uFillTx/>
                <a:latin typeface="Arial"/>
              </a:defRPr>
            </a:pPr>
          </a:p>
        </c:txPr>
        <c:crossAx val="24373917"/>
        <c:crosses val="autoZero"/>
        <c:auto val="1"/>
        <c:lblAlgn val="ctr"/>
        <c:lblOffset val="100"/>
        <c:noMultiLvlLbl val="0"/>
      </c:catAx>
      <c:valAx>
        <c:axId val="24373917"/>
        <c:scaling>
          <c:orientation val="minMax"/>
          <c:max val="0.65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3837077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FreeSans"/>
              </a:defRPr>
            </a:pPr>
            <a:r>
              <a:rPr sz="1800" b="0" u="none" strike="noStrike">
                <a:solidFill>
                  <a:srgbClr val="000000"/>
                </a:solidFill>
                <a:uFillTx/>
                <a:latin typeface="Arial"/>
              </a:rPr>
              <a:t>F1-weighted por conjunto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Entrenamiento</c:v>
                </c:pt>
              </c:strCache>
            </c:strRef>
          </c:tx>
          <c:spPr>
            <a:solidFill>
              <a:srgbClr val="1A4A7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Reg. Logística</c:v>
                </c:pt>
                <c:pt idx="1">
                  <c:v>Árbol de Decisión</c:v>
                </c:pt>
                <c:pt idx="2">
                  <c:v>Gradient Boosting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0.8848</c:v>
                </c:pt>
                <c:pt idx="1">
                  <c:v>0.9038</c:v>
                </c:pt>
                <c:pt idx="2">
                  <c:v>0.9012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Validación CV</c:v>
                </c:pt>
              </c:strCache>
            </c:strRef>
          </c:tx>
          <c:spPr>
            <a:solidFill>
              <a:srgbClr val="94A3B8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Reg. Logística</c:v>
                </c:pt>
                <c:pt idx="1">
                  <c:v>Árbol de Decisión</c:v>
                </c:pt>
                <c:pt idx="2">
                  <c:v>Gradient Boosting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0.8837</c:v>
                </c:pt>
                <c:pt idx="1">
                  <c:v>0.8567</c:v>
                </c:pt>
                <c:pt idx="2">
                  <c:v>0.8857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Prueba</c:v>
                </c:pt>
              </c:strCache>
            </c:strRef>
          </c:tx>
          <c:spPr>
            <a:solidFill>
              <a:srgbClr val="E8A02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Reg. Logística</c:v>
                </c:pt>
                <c:pt idx="1">
                  <c:v>Árbol de Decisión</c:v>
                </c:pt>
                <c:pt idx="2">
                  <c:v>Gradient Boosting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0.9155</c:v>
                </c:pt>
                <c:pt idx="1">
                  <c:v>0.8333</c:v>
                </c:pt>
                <c:pt idx="2">
                  <c:v>0.8988</c:v>
                </c:pt>
              </c:numCache>
            </c:numRef>
          </c:val>
        </c:ser>
        <c:gapWidth val="150"/>
        <c:overlap val="0"/>
        <c:axId val="86972241"/>
        <c:axId val="58351210"/>
      </c:barChart>
      <c:catAx>
        <c:axId val="8697224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E293B"/>
                </a:solidFill>
                <a:uFillTx/>
                <a:latin typeface="Arial"/>
              </a:defRPr>
            </a:pPr>
          </a:p>
        </c:txPr>
        <c:crossAx val="58351210"/>
        <c:crosses val="autoZero"/>
        <c:auto val="1"/>
        <c:lblAlgn val="ctr"/>
        <c:lblOffset val="100"/>
        <c:noMultiLvlLbl val="0"/>
      </c:catAx>
      <c:valAx>
        <c:axId val="58351210"/>
        <c:scaling>
          <c:orientation val="minMax"/>
          <c:max val="0.95"/>
          <c:min val="0.78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86972241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F25BA580-53A5-4C4E-A505-5D3D0171925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DC370B-C891-4766-8E3A-D68EB32887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C62392-4B21-4D8D-978A-514B053308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81541E-22AC-4D41-9FB3-E9AF987D23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36D96A-8122-4C17-892F-D7246A095C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EAC7D0-83FE-4E0F-A366-E67A6CD358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CEE59-6582-4831-8403-7AEA0A71C6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A8A087-3B8C-4EF6-A91E-767EF361AE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707C38-0C80-490B-B579-76D29D7E1C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8C4A8D-3133-4610-A3C6-3FB844F1FC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744AD9-55FB-4ABA-836C-B77889815C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FC06B0-1783-4FBE-9673-41AC5AF074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59BF68-DB36-450B-837E-F95EB5DD2A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DCF06D-B208-457C-AC2E-CA319E0355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961C65-E6DD-4434-8637-B9C68809E3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AC41C6-A232-466F-BA28-7F7DE99887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9A307E-8E7A-41B4-A031-5832EF74BC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02920" y="100584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Predicción de procedencia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 acciones de tutela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02920" y="283464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Proyecto de Aula — Entrega 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02920" y="32461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B4CC"/>
                </a:solidFill>
                <a:effectLst/>
                <a:uFillTx/>
                <a:latin typeface="Calibri"/>
                <a:ea typeface="Calibri"/>
              </a:rPr>
              <a:t>Universidad de Medellín  ·  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7132320" y="1371600"/>
            <a:ext cx="1645560" cy="164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6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Contexto y problema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" name="Text 2"/>
          <p:cNvSpPr/>
          <p:nvPr/>
        </p:nvSpPr>
        <p:spPr>
          <a:xfrm>
            <a:off x="411480" y="6584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¿Es posible anticipar si una tutela va a proceder?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365760" y="1051560"/>
            <a:ext cx="4845960" cy="356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" name="Text 4"/>
          <p:cNvSpPr/>
          <p:nvPr/>
        </p:nvSpPr>
        <p:spPr>
          <a:xfrm>
            <a:off x="502920" y="1143000"/>
            <a:ext cx="44802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La tutela en Colombia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Mecanismo constitucional de protección de derechos fundamentales, el más usado en el país.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El problema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Una proporción significativa de tutelas es negada o declarada improcedente por razones procesales predecibles.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Relevancia práctica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Orientar a ciudadanos y abogados sobre la viabilidad de una tutela antes de interponerla.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5440680" y="1051560"/>
            <a:ext cx="3337200" cy="356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5440680" y="1051560"/>
            <a:ext cx="3337200" cy="5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" name="Text 7"/>
          <p:cNvSpPr/>
          <p:nvPr/>
        </p:nvSpPr>
        <p:spPr>
          <a:xfrm>
            <a:off x="5532120" y="118872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Pregunta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problema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" name="Text 8"/>
          <p:cNvSpPr/>
          <p:nvPr/>
        </p:nvSpPr>
        <p:spPr>
          <a:xfrm>
            <a:off x="5532120" y="1828800"/>
            <a:ext cx="315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¿Puede un modelo de ML predecir si una tutela procederá, a partir de las características del caso?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Objetivos del proyecto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365760" y="960120"/>
            <a:ext cx="8412120" cy="776880"/>
          </a:xfrm>
          <a:prstGeom prst="rect">
            <a:avLst/>
          </a:prstGeom>
          <a:solidFill>
            <a:srgbClr val="1A4A7A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02920" y="960120"/>
            <a:ext cx="1828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Objetivo general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8" name="Text 4"/>
          <p:cNvSpPr/>
          <p:nvPr/>
        </p:nvSpPr>
        <p:spPr>
          <a:xfrm>
            <a:off x="2377440" y="960120"/>
            <a:ext cx="621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Desarrollar modelos de clasificación supervisada para predecir la procedencia de una acción de tutela (1 = procede, 0 = no procede).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365760" y="1920240"/>
            <a:ext cx="2651400" cy="292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365760" y="1920240"/>
            <a:ext cx="2651400" cy="4568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1" name="Text 7"/>
          <p:cNvSpPr/>
          <p:nvPr/>
        </p:nvSpPr>
        <p:spPr>
          <a:xfrm>
            <a:off x="365760" y="192024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" name="Text 8"/>
          <p:cNvSpPr/>
          <p:nvPr/>
        </p:nvSpPr>
        <p:spPr>
          <a:xfrm>
            <a:off x="457200" y="24231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Comparar modelos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3" name="Text 9"/>
          <p:cNvSpPr/>
          <p:nvPr/>
        </p:nvSpPr>
        <p:spPr>
          <a:xfrm>
            <a:off x="475560" y="2907720"/>
            <a:ext cx="24318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Construir y evaluar tres modelos: Regresión Logística, Árbol de Decisión y Gradient Boosting con el mismo protocolo.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3200400" y="1920240"/>
            <a:ext cx="2651400" cy="292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3200400" y="1920240"/>
            <a:ext cx="2651400" cy="4568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3200400" y="192024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3291840" y="24231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Identificar variables clave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3310200" y="2907720"/>
            <a:ext cx="24318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Determinar qué características del caso explican mejor la decisión de la Corte Constitucional.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6035040" y="1920240"/>
            <a:ext cx="2651400" cy="292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6035040" y="1920240"/>
            <a:ext cx="2651400" cy="4568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6035040" y="192024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6126480" y="24231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Recomendar el mejor modelo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6144840" y="2907720"/>
            <a:ext cx="24318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Seleccionar el modelo más adecuado considerando rendimiento predictivo e interpretabilidad.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Origen y descripción de los datos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320040" y="960120"/>
            <a:ext cx="191988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20040" y="1033200"/>
            <a:ext cx="1919880" cy="6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352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8" name="Text 4"/>
          <p:cNvSpPr/>
          <p:nvPr/>
        </p:nvSpPr>
        <p:spPr>
          <a:xfrm>
            <a:off x="320040" y="1697040"/>
            <a:ext cx="19198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Sentencias analizadas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2468880" y="960120"/>
            <a:ext cx="191988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0" name="Text 6"/>
          <p:cNvSpPr/>
          <p:nvPr/>
        </p:nvSpPr>
        <p:spPr>
          <a:xfrm>
            <a:off x="2468880" y="1033200"/>
            <a:ext cx="1919880" cy="6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29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1" name="Text 7"/>
          <p:cNvSpPr/>
          <p:nvPr/>
        </p:nvSpPr>
        <p:spPr>
          <a:xfrm>
            <a:off x="2468880" y="1697040"/>
            <a:ext cx="19198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Variables por caso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4617720" y="960120"/>
            <a:ext cx="191988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3" name="Text 9"/>
          <p:cNvSpPr/>
          <p:nvPr/>
        </p:nvSpPr>
        <p:spPr>
          <a:xfrm>
            <a:off x="4617720" y="1033200"/>
            <a:ext cx="1919880" cy="6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2012–22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4617720" y="1697040"/>
            <a:ext cx="19198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Período cubierto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6766560" y="960120"/>
            <a:ext cx="191988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6766560" y="1033200"/>
            <a:ext cx="1919880" cy="6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71.8%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6766560" y="1697040"/>
            <a:ext cx="191988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Tutelas que proceden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320040" y="2331720"/>
            <a:ext cx="8503560" cy="242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502920" y="2487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Shape 15"/>
          <p:cNvSpPr/>
          <p:nvPr/>
        </p:nvSpPr>
        <p:spPr>
          <a:xfrm>
            <a:off x="320040" y="2331720"/>
            <a:ext cx="8503560" cy="3837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502920" y="23317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Fuente y proceso de recolección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457200" y="278892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Los datos fueron recolectados manualmente por un estudiante de Derecho de la Universidad de Medellín, quien revisó sentencias reales de la Corte Constitucional colombiana y codificó cada caso siguiendo una rúbrica estructurada.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Esto garantiza que las variables reflejan exactamente los criterios jurídicos que la Corte aplica al resolver una tutela — no son proxies estadísticos sino indicadores procesales reales.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Diccionario de variables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320040" y="914400"/>
            <a:ext cx="411444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320040" y="987480"/>
            <a:ext cx="4114440" cy="3470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67" name="Text 4"/>
          <p:cNvSpPr/>
          <p:nvPr/>
        </p:nvSpPr>
        <p:spPr>
          <a:xfrm>
            <a:off x="411480" y="9874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Variables categóricas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8" name="Text 5"/>
          <p:cNvSpPr/>
          <p:nvPr/>
        </p:nvSpPr>
        <p:spPr>
          <a:xfrm>
            <a:off x="429840" y="137160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tema_principal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9" name="Text 6"/>
          <p:cNvSpPr/>
          <p:nvPr/>
        </p:nvSpPr>
        <p:spPr>
          <a:xfrm>
            <a:off x="1929240" y="137160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Área de la tutela (salud, seguridad social, mínimo vital)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0" name="Text 7"/>
          <p:cNvSpPr/>
          <p:nvPr/>
        </p:nvSpPr>
        <p:spPr>
          <a:xfrm>
            <a:off x="429840" y="192024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tipo_accionante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1" name="Text 8"/>
          <p:cNvSpPr/>
          <p:nvPr/>
        </p:nvSpPr>
        <p:spPr>
          <a:xfrm>
            <a:off x="1929240" y="192024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Persona natural o jurídica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2" name="Text 9"/>
          <p:cNvSpPr/>
          <p:nvPr/>
        </p:nvSpPr>
        <p:spPr>
          <a:xfrm>
            <a:off x="429840" y="24688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representacion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1929240" y="246888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Directa, apoderado o agente oficioso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429840" y="3017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tipo_entidad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1929240" y="301752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Pública, privada o economía mixta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429840" y="356616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sector_entidad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1929240" y="35661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Salud, pensiones, otro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4709160" y="914400"/>
            <a:ext cx="411444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9" name="Shape 16"/>
          <p:cNvSpPr/>
          <p:nvPr/>
        </p:nvSpPr>
        <p:spPr>
          <a:xfrm>
            <a:off x="4709160" y="987480"/>
            <a:ext cx="4114440" cy="3470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4800600" y="9874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Variables binarias (requisitos procesales)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4818960" y="137160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subsidiariedad_cumplida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6318360" y="137160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¿No existe otro medio judicial idóneo?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4818960" y="192024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perjuicio_irremediable_probado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6318360" y="192024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¿Se probó el perjuicio irremediable?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4818960" y="24688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legitimacion_activa / pasiva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6" name="Text 23"/>
          <p:cNvSpPr/>
          <p:nvPr/>
        </p:nvSpPr>
        <p:spPr>
          <a:xfrm>
            <a:off x="6318360" y="246888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¿Las partes tienen legitimidad?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4818960" y="301752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urgencia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6318360" y="301752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¿Existe urgencia en el caso?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9" name="Text 26"/>
          <p:cNvSpPr/>
          <p:nvPr/>
        </p:nvSpPr>
        <p:spPr>
          <a:xfrm>
            <a:off x="4818960" y="356616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hay_inmediatez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0" name="Text 27"/>
          <p:cNvSpPr/>
          <p:nvPr/>
        </p:nvSpPr>
        <p:spPr>
          <a:xfrm>
            <a:off x="6318360" y="35661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¿Se interpuso en tiempo oportuno?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1" name="Shape 28"/>
          <p:cNvSpPr/>
          <p:nvPr/>
        </p:nvSpPr>
        <p:spPr>
          <a:xfrm>
            <a:off x="320040" y="4827960"/>
            <a:ext cx="8503560" cy="23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2" name="Text 29"/>
          <p:cNvSpPr/>
          <p:nvPr/>
        </p:nvSpPr>
        <p:spPr>
          <a:xfrm>
            <a:off x="457200" y="482796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Numéricas:  edad_aproximada — Edad del accionante   ·   dias_desde_hecho — Días entre el hecho y la tutela   ·   año — Año de la sentencia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94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Calidad de los datos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5" name="Text 2"/>
          <p:cNvSpPr/>
          <p:nvPr/>
        </p:nvSpPr>
        <p:spPr>
          <a:xfrm>
            <a:off x="411480" y="6584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Nulos identificados y acciones tomadas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6" name="Table 0"/>
          <p:cNvGraphicFramePr/>
          <p:nvPr/>
        </p:nvGraphicFramePr>
        <p:xfrm>
          <a:off x="365760" y="1005840"/>
          <a:ext cx="8412120" cy="237708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Variable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Nulos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% Nulos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Acción tomada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edad_aproximada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168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47.7%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Imputación por mediana (dentro del pipeline)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dias_desde_hecho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37.5%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Imputación por mediana (dentro del pipeline)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tipo_entidad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2.6%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Imputación por moda (dentro del pipeline)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sector_entidad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Imputación por moda (dentro del pipeline)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7" name="Shape 3"/>
          <p:cNvSpPr/>
          <p:nvPr/>
        </p:nvSpPr>
        <p:spPr>
          <a:xfrm>
            <a:off x="365760" y="3566160"/>
            <a:ext cx="416016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98" name="Image 0" descr="preencoded.png"/>
          <p:cNvPicPr/>
          <p:nvPr/>
        </p:nvPicPr>
        <p:blipFill>
          <a:blip r:embed="rId1"/>
          <a:stretch/>
        </p:blipFill>
        <p:spPr>
          <a:xfrm>
            <a:off x="530280" y="3749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4"/>
          <p:cNvSpPr/>
          <p:nvPr/>
        </p:nvSpPr>
        <p:spPr>
          <a:xfrm>
            <a:off x="960120" y="3703320"/>
            <a:ext cx="342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Desbalance de clases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548640" y="4133160"/>
            <a:ext cx="3794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71.8% procede vs 28.2% no procede → se usó F1-weighted como métrica de optimización y CV estratificado.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4754880" y="3566160"/>
            <a:ext cx="416016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02" name="Image 1" descr="preencoded.png"/>
          <p:cNvPicPr/>
          <p:nvPr/>
        </p:nvPicPr>
        <p:blipFill>
          <a:blip r:embed="rId2"/>
          <a:stretch/>
        </p:blipFill>
        <p:spPr>
          <a:xfrm>
            <a:off x="4919400" y="3749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7"/>
          <p:cNvSpPr/>
          <p:nvPr/>
        </p:nvSpPr>
        <p:spPr>
          <a:xfrm>
            <a:off x="5349240" y="3703320"/>
            <a:ext cx="342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Sin duplicados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4937760" y="4133160"/>
            <a:ext cx="3794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 se encontraron registros duplicados en el conjunto de datos. La limpieza es adecuada para el modelado.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Metodología compartida — Protocolo de comparación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347400" y="1005840"/>
            <a:ext cx="15541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347400" y="1005840"/>
            <a:ext cx="1554120" cy="5025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347400" y="100584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420480" y="1554480"/>
            <a:ext cx="140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Partición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38840" y="2084760"/>
            <a:ext cx="1371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80% entrena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20% prueba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stratify=y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random_state=42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12" name="Image 0" descr="preencoded.png"/>
          <p:cNvPicPr/>
          <p:nvPr/>
        </p:nvPicPr>
        <p:blipFill>
          <a:blip r:embed="rId1"/>
          <a:stretch/>
        </p:blipFill>
        <p:spPr>
          <a:xfrm>
            <a:off x="1911240" y="2560320"/>
            <a:ext cx="127800" cy="12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Shape 7"/>
          <p:cNvSpPr/>
          <p:nvPr/>
        </p:nvSpPr>
        <p:spPr>
          <a:xfrm>
            <a:off x="2048400" y="1005840"/>
            <a:ext cx="15541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2048400" y="1005840"/>
            <a:ext cx="1554120" cy="5025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2048400" y="100584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2121480" y="1554480"/>
            <a:ext cx="140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Pipeline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2139840" y="2084760"/>
            <a:ext cx="1371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Imputa, escala y codifica variables dentro del pipeline para evitar data leakage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18" name="Image 1" descr="preencoded.png"/>
          <p:cNvPicPr/>
          <p:nvPr/>
        </p:nvPicPr>
        <p:blipFill>
          <a:blip r:embed="rId2"/>
          <a:stretch/>
        </p:blipFill>
        <p:spPr>
          <a:xfrm>
            <a:off x="3611880" y="2560320"/>
            <a:ext cx="127800" cy="12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Shape 12"/>
          <p:cNvSpPr/>
          <p:nvPr/>
        </p:nvSpPr>
        <p:spPr>
          <a:xfrm>
            <a:off x="3749040" y="1005840"/>
            <a:ext cx="15541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3749040" y="1005840"/>
            <a:ext cx="1554120" cy="5025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3749040" y="100584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3822120" y="1554480"/>
            <a:ext cx="140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CV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3840480" y="2084760"/>
            <a:ext cx="1371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StratifiedKFold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n_splits=5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random_state=42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24" name="Image 2" descr="preencoded.png"/>
          <p:cNvPicPr/>
          <p:nvPr/>
        </p:nvPicPr>
        <p:blipFill>
          <a:blip r:embed="rId3"/>
          <a:stretch/>
        </p:blipFill>
        <p:spPr>
          <a:xfrm>
            <a:off x="5312520" y="2560320"/>
            <a:ext cx="127800" cy="12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Shape 17"/>
          <p:cNvSpPr/>
          <p:nvPr/>
        </p:nvSpPr>
        <p:spPr>
          <a:xfrm>
            <a:off x="5449680" y="1005840"/>
            <a:ext cx="15541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6" name="Shape 18"/>
          <p:cNvSpPr/>
          <p:nvPr/>
        </p:nvSpPr>
        <p:spPr>
          <a:xfrm>
            <a:off x="5449680" y="1005840"/>
            <a:ext cx="1554120" cy="5025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5449680" y="100584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8" name="Text 20"/>
          <p:cNvSpPr/>
          <p:nvPr/>
        </p:nvSpPr>
        <p:spPr>
          <a:xfrm>
            <a:off x="5523120" y="1554480"/>
            <a:ext cx="140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Búsqueda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9" name="Text 21"/>
          <p:cNvSpPr/>
          <p:nvPr/>
        </p:nvSpPr>
        <p:spPr>
          <a:xfrm>
            <a:off x="5541120" y="2084760"/>
            <a:ext cx="1371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GridSearchCV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optimizando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F1-weighted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30" name="Image 3" descr="preencoded.png"/>
          <p:cNvPicPr/>
          <p:nvPr/>
        </p:nvPicPr>
        <p:blipFill>
          <a:blip r:embed="rId4"/>
          <a:stretch/>
        </p:blipFill>
        <p:spPr>
          <a:xfrm>
            <a:off x="7013520" y="2560320"/>
            <a:ext cx="127800" cy="12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Shape 22"/>
          <p:cNvSpPr/>
          <p:nvPr/>
        </p:nvSpPr>
        <p:spPr>
          <a:xfrm>
            <a:off x="7150680" y="1005840"/>
            <a:ext cx="155412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2" name="Shape 23"/>
          <p:cNvSpPr/>
          <p:nvPr/>
        </p:nvSpPr>
        <p:spPr>
          <a:xfrm>
            <a:off x="7150680" y="1005840"/>
            <a:ext cx="1554120" cy="5025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7150680" y="100584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A020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Text 25"/>
          <p:cNvSpPr/>
          <p:nvPr/>
        </p:nvSpPr>
        <p:spPr>
          <a:xfrm>
            <a:off x="7223760" y="1554480"/>
            <a:ext cx="140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Evaluación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5" name="Text 26"/>
          <p:cNvSpPr/>
          <p:nvPr/>
        </p:nvSpPr>
        <p:spPr>
          <a:xfrm>
            <a:off x="7242120" y="2084760"/>
            <a:ext cx="1371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Métricas 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entrenamiento,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validación (CV)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y prueba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6" name="Shape 27"/>
          <p:cNvSpPr/>
          <p:nvPr/>
        </p:nvSpPr>
        <p:spPr>
          <a:xfrm>
            <a:off x="347400" y="4827960"/>
            <a:ext cx="8457840" cy="228240"/>
          </a:xfrm>
          <a:prstGeom prst="rect">
            <a:avLst/>
          </a:prstGeom>
          <a:solidFill>
            <a:srgbClr val="FFF8E7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475560" y="48279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★  F1-weighted elegido como métrica de optimización por el leve desbalance de clases (71.8% / 28.2%)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Modelo 1: Regresión Logística (línea base — E3)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347400" y="987480"/>
            <a:ext cx="841212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502920" y="98748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Mejores hiperparámetros: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2560320" y="987480"/>
            <a:ext cx="5943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4A7A"/>
                </a:solidFill>
                <a:effectLst/>
                <a:uFillTx/>
                <a:latin typeface="Calibri"/>
                <a:ea typeface="Calibri"/>
              </a:rPr>
              <a:t>Regularización: L1   ·   C = 0.1   ·   Solver: liblinear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43" name="Table 0"/>
          <p:cNvGraphicFramePr/>
          <p:nvPr/>
        </p:nvGraphicFramePr>
        <p:xfrm>
          <a:off x="347400" y="1828800"/>
          <a:ext cx="8320680" cy="1038240"/>
        </p:xfrm>
        <a:graphic>
          <a:graphicData uri="http://schemas.openxmlformats.org/drawingml/2006/table">
            <a:tbl>
              <a:tblPr/>
              <a:tblGrid>
                <a:gridCol w="1386720"/>
                <a:gridCol w="1386720"/>
                <a:gridCol w="1386720"/>
                <a:gridCol w="1386720"/>
                <a:gridCol w="1386720"/>
                <a:gridCol w="13867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Conjunto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Accuracy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Precision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Recall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F1-weighted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ROC-AUC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Entrenamiento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0.8857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0.8843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0.8857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0.8848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0.9392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Validación (CV)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0.8857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0.8836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0.8857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0.8837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0.9273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Prueba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0.9155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0.9155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0.9155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0.9155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0.9333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</a:tr>
            </a:tbl>
          </a:graphicData>
        </a:graphic>
      </p:graphicFrame>
      <p:sp>
        <p:nvSpPr>
          <p:cNvPr id="144" name="Shape 5"/>
          <p:cNvSpPr/>
          <p:nvPr/>
        </p:nvSpPr>
        <p:spPr>
          <a:xfrm>
            <a:off x="347400" y="3520440"/>
            <a:ext cx="8412120" cy="146268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45" name="Image 0" descr="preencoded.png"/>
          <p:cNvPicPr/>
          <p:nvPr/>
        </p:nvPicPr>
        <p:blipFill>
          <a:blip r:embed="rId1"/>
          <a:stretch/>
        </p:blipFill>
        <p:spPr>
          <a:xfrm>
            <a:off x="530280" y="3703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6"/>
          <p:cNvSpPr/>
          <p:nvPr/>
        </p:nvSpPr>
        <p:spPr>
          <a:xfrm>
            <a:off x="987480" y="367596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Destaca: sin sobreajuste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502920" y="4096440"/>
            <a:ext cx="8137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El desempeño en prueba (F1 = 0.9155) es ligeramente superior al de entrenamiento, indicando excelente generalización. La regularización L1 realizó selección de variables al llevar a cero los coeficientes menos relevantes.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Modelo 2: Árbol de Decisión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347400" y="987480"/>
            <a:ext cx="841212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502920" y="98748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Mejores hiperparámetros: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2560320" y="987480"/>
            <a:ext cx="5943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4A7A"/>
                </a:solidFill>
                <a:effectLst/>
                <a:uFillTx/>
                <a:latin typeface="Calibri"/>
                <a:ea typeface="Calibri"/>
              </a:rPr>
              <a:t>Criterio: gini   ·   max_depth: 3   ·   min_samples_leaf: 5   ·   class_weight: None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53" name="Table 0"/>
          <p:cNvGraphicFramePr/>
          <p:nvPr/>
        </p:nvGraphicFramePr>
        <p:xfrm>
          <a:off x="347400" y="1828800"/>
          <a:ext cx="8320680" cy="1038240"/>
        </p:xfrm>
        <a:graphic>
          <a:graphicData uri="http://schemas.openxmlformats.org/drawingml/2006/table">
            <a:tbl>
              <a:tblPr/>
              <a:tblGrid>
                <a:gridCol w="1386720"/>
                <a:gridCol w="1386720"/>
                <a:gridCol w="1386720"/>
                <a:gridCol w="1386720"/>
                <a:gridCol w="1386720"/>
                <a:gridCol w="13867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Conjunto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Accuracy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Precision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Recall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F1-weighted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ROC-AUC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Entrenamiento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0.9036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0.9036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0.9038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0.9583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Validación (CV)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0.8607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0.8645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0.8607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0.8567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0.9042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Prueba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0.8371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0.8333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0.9176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</a:tr>
            </a:tbl>
          </a:graphicData>
        </a:graphic>
      </p:graphicFrame>
      <p:sp>
        <p:nvSpPr>
          <p:cNvPr id="154" name="Shape 5"/>
          <p:cNvSpPr/>
          <p:nvPr/>
        </p:nvSpPr>
        <p:spPr>
          <a:xfrm>
            <a:off x="347400" y="3520440"/>
            <a:ext cx="8412120" cy="1462680"/>
          </a:xfrm>
          <a:prstGeom prst="rect">
            <a:avLst/>
          </a:prstGeom>
          <a:solidFill>
            <a:srgbClr val="FFF8E7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55" name="Image 0" descr="preencoded.png"/>
          <p:cNvPicPr/>
          <p:nvPr/>
        </p:nvPicPr>
        <p:blipFill>
          <a:blip r:embed="rId1"/>
          <a:stretch/>
        </p:blipFill>
        <p:spPr>
          <a:xfrm>
            <a:off x="530280" y="3703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6"/>
          <p:cNvSpPr/>
          <p:nvPr/>
        </p:nvSpPr>
        <p:spPr>
          <a:xfrm>
            <a:off x="987480" y="367596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Señal de sobreajuste — gap F1: 0.0705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502920" y="4096440"/>
            <a:ext cx="8137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El F1 de entrenamiento (0.9038) supera al de prueba (0.8333) en ~7 puntos. La sintonización mediante CV acotó la profundidad a 3, mitigando el sobreajuste. Aun así es el modelo con mayor brecha de los tres.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Importancia de características — Árbol de Decisión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60" name="Chart 0"/>
          <p:cNvGraphicFramePr/>
          <p:nvPr/>
        </p:nvGraphicFramePr>
        <p:xfrm>
          <a:off x="347400" y="960120"/>
          <a:ext cx="5303160" cy="397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1" name="Shape 2"/>
          <p:cNvSpPr/>
          <p:nvPr/>
        </p:nvSpPr>
        <p:spPr>
          <a:xfrm>
            <a:off x="5852160" y="960120"/>
            <a:ext cx="2971440" cy="397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5852160" y="960120"/>
            <a:ext cx="2971440" cy="4111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5961960" y="9601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Interpretación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5961960" y="1444680"/>
            <a:ext cx="27428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74% en una variable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1A4A7A"/>
                </a:solidFill>
                <a:effectLst/>
                <a:uFillTx/>
                <a:latin typeface="Calibri"/>
              </a:rPr>
              <a:t>subsidiariedad_cumplida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concentra casi toda la capacidad predictiva del árbol.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Esto es consistente con la doctrina jurídica: la subsidiariedad es el requisito procesal más exigente de la acción de tutela.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Modelo 3: Gradient Boosting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347400" y="987480"/>
            <a:ext cx="841212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502920" y="98748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Mejores hiperparámetros: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2560320" y="987480"/>
            <a:ext cx="5943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4A7A"/>
                </a:solidFill>
                <a:effectLst/>
                <a:uFillTx/>
                <a:latin typeface="Calibri"/>
                <a:ea typeface="Calibri"/>
              </a:rPr>
              <a:t>n_estimators: 200   ·   learning_rate: 0.01   ·   max_depth: 2   ·   subsample: 0.7   ·   min_samples_leaf: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70" name="Table 0"/>
          <p:cNvGraphicFramePr/>
          <p:nvPr/>
        </p:nvGraphicFramePr>
        <p:xfrm>
          <a:off x="347400" y="1828800"/>
          <a:ext cx="8320680" cy="1038240"/>
        </p:xfrm>
        <a:graphic>
          <a:graphicData uri="http://schemas.openxmlformats.org/drawingml/2006/table">
            <a:tbl>
              <a:tblPr/>
              <a:tblGrid>
                <a:gridCol w="1386720"/>
                <a:gridCol w="1386720"/>
                <a:gridCol w="1386720"/>
                <a:gridCol w="1386720"/>
                <a:gridCol w="1386720"/>
                <a:gridCol w="13867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Conjunto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Accuracy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Precision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Recall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F1-weighted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ROC-AUC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Entrenamiento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0.9036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0.9036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0.9670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Validación (CV)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0.8893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0.8887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0.8893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0.8857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F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Prueba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0.9014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0.9003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0.9014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0.8988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0.9343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DF8F1"/>
                    </a:solidFill>
                  </a:tcPr>
                </a:tc>
              </a:tr>
            </a:tbl>
          </a:graphicData>
        </a:graphic>
      </p:graphicFrame>
      <p:sp>
        <p:nvSpPr>
          <p:cNvPr id="171" name="Shape 5"/>
          <p:cNvSpPr/>
          <p:nvPr/>
        </p:nvSpPr>
        <p:spPr>
          <a:xfrm>
            <a:off x="347400" y="3520440"/>
            <a:ext cx="8412120" cy="146268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530280" y="3703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6"/>
          <p:cNvSpPr/>
          <p:nvPr/>
        </p:nvSpPr>
        <p:spPr>
          <a:xfrm>
            <a:off x="987480" y="367596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7A4A"/>
                </a:solidFill>
                <a:effectLst/>
                <a:uFillTx/>
                <a:latin typeface="Calibri"/>
                <a:ea typeface="Calibri"/>
              </a:rPr>
              <a:t>Mejor generalización — gap F1: 0.0024 (casi nulo)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502920" y="4096440"/>
            <a:ext cx="8137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La tasa de aprendizaje baja (0.01) combinada con 200 estimadores y submuestreo del 70% controla el sobreajuste. La brecha entre entrenamiento y prueba es prácticamente inexistente, lo que indica excelente capacidad de generalización.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Importancia de características — Gradient Boosting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77" name="Chart 0"/>
          <p:cNvGraphicFramePr/>
          <p:nvPr/>
        </p:nvGraphicFramePr>
        <p:xfrm>
          <a:off x="347400" y="960120"/>
          <a:ext cx="5303160" cy="397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8" name="Shape 2"/>
          <p:cNvSpPr/>
          <p:nvPr/>
        </p:nvSpPr>
        <p:spPr>
          <a:xfrm>
            <a:off x="5852160" y="960120"/>
            <a:ext cx="2971440" cy="397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852160" y="960120"/>
            <a:ext cx="2971440" cy="4111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5961960" y="9601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Interpretación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5961960" y="1444680"/>
            <a:ext cx="27428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Distribución más equilibrada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En el boosting la importancia se reparte entre más variables porque el ensemble combina cientos de árboles débiles.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urgencia sube al 2° lugar (18%), capturando señales débiles que el árbol individual ignoraba.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Comparación de los tres modelos — métricas en prueba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84" name="Chart 0"/>
          <p:cNvGraphicFramePr/>
          <p:nvPr/>
        </p:nvGraphicFramePr>
        <p:xfrm>
          <a:off x="347400" y="960120"/>
          <a:ext cx="5303160" cy="2925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5" name="Table 0"/>
          <p:cNvGraphicFramePr/>
          <p:nvPr/>
        </p:nvGraphicFramePr>
        <p:xfrm>
          <a:off x="347400" y="3977640"/>
          <a:ext cx="5303160" cy="120600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  <a:gridCol w="132588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Modelo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 Test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ROC-AUC Test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Gap F1 (train−test)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Reg. Logística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7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0.9155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0.9333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7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-0.031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Árbol Decisión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0.8333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0.9176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+0.071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Gradient Boosting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0.8988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7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0.9343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A7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6" name="Shape 2"/>
          <p:cNvSpPr/>
          <p:nvPr/>
        </p:nvSpPr>
        <p:spPr>
          <a:xfrm>
            <a:off x="5852160" y="960120"/>
            <a:ext cx="2971440" cy="420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5852160" y="960120"/>
            <a:ext cx="2971440" cy="4111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5961960" y="9601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Hallazgo clave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5961960" y="1463040"/>
            <a:ext cx="274284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</a:rPr>
              <a:t>La Reg. Logística obtuvo el mejor F1 en prueba (0.9155)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Esto sugiere que la relación entre variables y target es en gran parte lineal, y que con 352 registros los modelos complejos no tienen suficientes datos para superar al modelo simple.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Gradient Boosting tiene el mejor equilibrio generalización–sobreajuste (gap ≈ 0).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Análisis de trade-offs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347400" y="960120"/>
            <a:ext cx="2697120" cy="4041360"/>
          </a:xfrm>
          <a:prstGeom prst="rect">
            <a:avLst/>
          </a:prstGeom>
          <a:solidFill>
            <a:srgbClr val="EDF8F1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347400" y="960120"/>
            <a:ext cx="2697120" cy="5025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347400" y="96012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Regresión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Logística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457200" y="157284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Interpretabilidad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1865520" y="157284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★★★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457200" y="210312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457200" y="219456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Rendimiento (test)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1865520" y="219456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★★★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457200" y="272484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457200" y="281628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Riesgo overfitting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1865520" y="281628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Bajo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457200" y="334656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457200" y="3438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Captura no lineal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1865520" y="343800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No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457200" y="396828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457200" y="406008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Costo computacional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1865520" y="406008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Bajo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3200400" y="960120"/>
            <a:ext cx="2697120" cy="4041360"/>
          </a:xfrm>
          <a:prstGeom prst="rect">
            <a:avLst/>
          </a:prstGeom>
          <a:solidFill>
            <a:srgbClr val="FFF8E7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3200400" y="960120"/>
            <a:ext cx="2697120" cy="5025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3200400" y="96012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Árbol 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Decisión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3310200" y="157284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Interpretabilidad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4718160" y="157284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★★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4" name="Shape 24"/>
          <p:cNvSpPr/>
          <p:nvPr/>
        </p:nvSpPr>
        <p:spPr>
          <a:xfrm>
            <a:off x="3309840" y="210312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3310200" y="219456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Rendimiento (test)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4718160" y="219456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7" name="Shape 27"/>
          <p:cNvSpPr/>
          <p:nvPr/>
        </p:nvSpPr>
        <p:spPr>
          <a:xfrm>
            <a:off x="3309840" y="272484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3310200" y="281628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Riesgo overfitting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4718160" y="281628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Alto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0" name="Shape 30"/>
          <p:cNvSpPr/>
          <p:nvPr/>
        </p:nvSpPr>
        <p:spPr>
          <a:xfrm>
            <a:off x="3309840" y="334656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1" name="Text 31"/>
          <p:cNvSpPr/>
          <p:nvPr/>
        </p:nvSpPr>
        <p:spPr>
          <a:xfrm>
            <a:off x="3310200" y="3438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Captura no lineal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4718160" y="343800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Sí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3" name="Shape 33"/>
          <p:cNvSpPr/>
          <p:nvPr/>
        </p:nvSpPr>
        <p:spPr>
          <a:xfrm>
            <a:off x="3309840" y="396828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4" name="Text 34"/>
          <p:cNvSpPr/>
          <p:nvPr/>
        </p:nvSpPr>
        <p:spPr>
          <a:xfrm>
            <a:off x="3310200" y="406008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Costo computacional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5" name="Text 35"/>
          <p:cNvSpPr/>
          <p:nvPr/>
        </p:nvSpPr>
        <p:spPr>
          <a:xfrm>
            <a:off x="4718160" y="406008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Bajo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6" name="Shape 36"/>
          <p:cNvSpPr/>
          <p:nvPr/>
        </p:nvSpPr>
        <p:spPr>
          <a:xfrm>
            <a:off x="6053400" y="960120"/>
            <a:ext cx="2697120" cy="404136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7" name="Shape 37"/>
          <p:cNvSpPr/>
          <p:nvPr/>
        </p:nvSpPr>
        <p:spPr>
          <a:xfrm>
            <a:off x="6053400" y="960120"/>
            <a:ext cx="2697120" cy="5025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28" name="Text 38"/>
          <p:cNvSpPr/>
          <p:nvPr/>
        </p:nvSpPr>
        <p:spPr>
          <a:xfrm>
            <a:off x="6053400" y="96012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Gradient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Boosting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9" name="Text 39"/>
          <p:cNvSpPr/>
          <p:nvPr/>
        </p:nvSpPr>
        <p:spPr>
          <a:xfrm>
            <a:off x="6163200" y="157284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Interpretabilidad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0" name="Text 40"/>
          <p:cNvSpPr/>
          <p:nvPr/>
        </p:nvSpPr>
        <p:spPr>
          <a:xfrm>
            <a:off x="7571160" y="157284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1" name="Shape 41"/>
          <p:cNvSpPr/>
          <p:nvPr/>
        </p:nvSpPr>
        <p:spPr>
          <a:xfrm>
            <a:off x="6162840" y="210312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6163200" y="219456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Rendimiento (test)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3" name="Text 43"/>
          <p:cNvSpPr/>
          <p:nvPr/>
        </p:nvSpPr>
        <p:spPr>
          <a:xfrm>
            <a:off x="7571160" y="219456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★★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4" name="Shape 44"/>
          <p:cNvSpPr/>
          <p:nvPr/>
        </p:nvSpPr>
        <p:spPr>
          <a:xfrm>
            <a:off x="6162840" y="272484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5" name="Text 45"/>
          <p:cNvSpPr/>
          <p:nvPr/>
        </p:nvSpPr>
        <p:spPr>
          <a:xfrm>
            <a:off x="6163200" y="281628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Riesgo overfitting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6" name="Text 46"/>
          <p:cNvSpPr/>
          <p:nvPr/>
        </p:nvSpPr>
        <p:spPr>
          <a:xfrm>
            <a:off x="7571160" y="281628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Medio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7" name="Shape 47"/>
          <p:cNvSpPr/>
          <p:nvPr/>
        </p:nvSpPr>
        <p:spPr>
          <a:xfrm>
            <a:off x="6162840" y="334656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8" name="Text 48"/>
          <p:cNvSpPr/>
          <p:nvPr/>
        </p:nvSpPr>
        <p:spPr>
          <a:xfrm>
            <a:off x="6163200" y="343800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Captura no lineal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9" name="Text 49"/>
          <p:cNvSpPr/>
          <p:nvPr/>
        </p:nvSpPr>
        <p:spPr>
          <a:xfrm>
            <a:off x="7571160" y="343800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Sí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0" name="Shape 50"/>
          <p:cNvSpPr/>
          <p:nvPr/>
        </p:nvSpPr>
        <p:spPr>
          <a:xfrm>
            <a:off x="6162840" y="3968280"/>
            <a:ext cx="2468880" cy="360"/>
          </a:xfrm>
          <a:prstGeom prst="line">
            <a:avLst/>
          </a:prstGeom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1" name="Text 51"/>
          <p:cNvSpPr/>
          <p:nvPr/>
        </p:nvSpPr>
        <p:spPr>
          <a:xfrm>
            <a:off x="6163200" y="406008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Costo computacional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2" name="Text 52"/>
          <p:cNvSpPr/>
          <p:nvPr/>
        </p:nvSpPr>
        <p:spPr>
          <a:xfrm>
            <a:off x="7571160" y="4060080"/>
            <a:ext cx="106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Alto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4" name="Text 1"/>
          <p:cNvSpPr/>
          <p:nvPr/>
        </p:nvSpPr>
        <p:spPr>
          <a:xfrm>
            <a:off x="502920" y="1828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Recomendación y conclusiones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45" name="Shape 2"/>
          <p:cNvSpPr/>
          <p:nvPr/>
        </p:nvSpPr>
        <p:spPr>
          <a:xfrm>
            <a:off x="347400" y="896040"/>
            <a:ext cx="2697120" cy="406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A5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246" name="Image 0" descr="preencoded.png"/>
          <p:cNvPicPr/>
          <p:nvPr/>
        </p:nvPicPr>
        <p:blipFill>
          <a:blip r:embed="rId1"/>
          <a:stretch/>
        </p:blipFill>
        <p:spPr>
          <a:xfrm>
            <a:off x="530280" y="10789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3"/>
          <p:cNvSpPr/>
          <p:nvPr/>
        </p:nvSpPr>
        <p:spPr>
          <a:xfrm>
            <a:off x="969120" y="1051560"/>
            <a:ext cx="1965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1. Variable dominante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48" name="Text 4"/>
          <p:cNvSpPr/>
          <p:nvPr/>
        </p:nvSpPr>
        <p:spPr>
          <a:xfrm>
            <a:off x="484560" y="1572840"/>
            <a:ext cx="2422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C"/>
                </a:solidFill>
                <a:effectLst/>
                <a:uFillTx/>
                <a:latin typeface="Calibri"/>
                <a:ea typeface="Calibri"/>
              </a:rPr>
              <a:t>subsidiariedad_cumplida es el predictor más importante en los dos modelos de árbol. Es consistente con la doctrina jurídica colombiana: la tutela solo procede si no existe otro medio judicial idóneo.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49" name="Shape 5"/>
          <p:cNvSpPr/>
          <p:nvPr/>
        </p:nvSpPr>
        <p:spPr>
          <a:xfrm>
            <a:off x="3200400" y="896040"/>
            <a:ext cx="2697120" cy="406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A5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250" name="Image 1" descr="preencoded.png"/>
          <p:cNvPicPr/>
          <p:nvPr/>
        </p:nvPicPr>
        <p:blipFill>
          <a:blip r:embed="rId2"/>
          <a:stretch/>
        </p:blipFill>
        <p:spPr>
          <a:xfrm>
            <a:off x="3383280" y="10789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6"/>
          <p:cNvSpPr/>
          <p:nvPr/>
        </p:nvSpPr>
        <p:spPr>
          <a:xfrm>
            <a:off x="3822120" y="1051560"/>
            <a:ext cx="1965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2. El modelo simple ganó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3337560" y="1572840"/>
            <a:ext cx="2422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C"/>
                </a:solidFill>
                <a:effectLst/>
                <a:uFillTx/>
                <a:latin typeface="Calibri"/>
                <a:ea typeface="Calibri"/>
              </a:rPr>
              <a:t>La Reg. Logística obtuvo el mejor F1 en prueba (0.9155). Con 352 registros, la relación variables→target es suficientemente lineal. Más datos probablemente cambiarían este resultado.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6053400" y="896040"/>
            <a:ext cx="2697120" cy="406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2A5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pic>
        <p:nvPicPr>
          <p:cNvPr id="254" name="Image 2" descr="preencoded.png"/>
          <p:cNvPicPr/>
          <p:nvPr/>
        </p:nvPicPr>
        <p:blipFill>
          <a:blip r:embed="rId3"/>
          <a:stretch/>
        </p:blipFill>
        <p:spPr>
          <a:xfrm>
            <a:off x="6236280" y="10789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9"/>
          <p:cNvSpPr/>
          <p:nvPr/>
        </p:nvSpPr>
        <p:spPr>
          <a:xfrm>
            <a:off x="6675120" y="1051560"/>
            <a:ext cx="1965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3. Gradient Boosting: mejor generalización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6190560" y="1572840"/>
            <a:ext cx="242280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C"/>
                </a:solidFill>
                <a:effectLst/>
                <a:uFillTx/>
                <a:latin typeface="Calibri"/>
                <a:ea typeface="Calibri"/>
              </a:rPr>
              <a:t>Gap train-prueba de 0.002. Recomendado para producción por su equilibrio entre rendimiento y ausencia de sobreajuste.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-5028840" y="-914400"/>
            <a:ext cx="9143640" cy="658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411480" y="0"/>
            <a:ext cx="7772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Limitaciones y próximos pasos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347400" y="960120"/>
            <a:ext cx="4023000" cy="404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347400" y="960120"/>
            <a:ext cx="4023000" cy="4111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475560" y="960120"/>
            <a:ext cx="376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⚠  Limitaciones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502920" y="14814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Tamaño del dataset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502920" y="182880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352 registros limitan la confianza estadística y no permiten que modelos complejos demuestren su potencial.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502920" y="26244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Subjetividad en codificación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5" name="Text 8"/>
          <p:cNvSpPr/>
          <p:nvPr/>
        </p:nvSpPr>
        <p:spPr>
          <a:xfrm>
            <a:off x="502920" y="297180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La recolección manual puede introducir variabilidad en la interpretación de las sentencias.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502920" y="37674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Alcance temático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502920" y="411480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El análisis se restringe a tutelas de seguridad social; los resultados pueden no generalizarse a otras temáticas.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4590360" y="960120"/>
            <a:ext cx="4205880" cy="404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4590360" y="960120"/>
            <a:ext cx="4205880" cy="4111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4736520" y="96012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  Próximos pasos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1" name="Shape 14"/>
          <p:cNvSpPr/>
          <p:nvPr/>
        </p:nvSpPr>
        <p:spPr>
          <a:xfrm>
            <a:off x="4681800" y="1499760"/>
            <a:ext cx="54360" cy="749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4827960" y="14814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Ampliar el dataset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4827960" y="1828800"/>
            <a:ext cx="38401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Incorporar más sentencias de distintos temas y períodos para mejorar la representatividad.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4" name="Shape 17"/>
          <p:cNvSpPr/>
          <p:nvPr/>
        </p:nvSpPr>
        <p:spPr>
          <a:xfrm>
            <a:off x="4681800" y="2642760"/>
            <a:ext cx="54360" cy="749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4827960" y="26244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Explicabilidad con SHAP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6" name="Text 19"/>
          <p:cNvSpPr/>
          <p:nvPr/>
        </p:nvSpPr>
        <p:spPr>
          <a:xfrm>
            <a:off x="4827960" y="2971800"/>
            <a:ext cx="38401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Aplicar valores SHAP para entender las predicciones a nivel de caso individual.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7" name="Shape 20"/>
          <p:cNvSpPr/>
          <p:nvPr/>
        </p:nvSpPr>
        <p:spPr>
          <a:xfrm>
            <a:off x="4681800" y="3785760"/>
            <a:ext cx="54360" cy="749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4827960" y="37674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2A4A"/>
                </a:solidFill>
                <a:effectLst/>
                <a:uFillTx/>
                <a:latin typeface="Calibri"/>
                <a:ea typeface="Calibri"/>
              </a:rPr>
              <a:t>Validación externa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9" name="Text 22"/>
          <p:cNvSpPr/>
          <p:nvPr/>
        </p:nvSpPr>
        <p:spPr>
          <a:xfrm>
            <a:off x="4827960" y="4114800"/>
            <a:ext cx="38401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Probar el modelo en sentencias de tribunales administrativos para evaluar su generalización.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80" name="Shape 23"/>
          <p:cNvSpPr/>
          <p:nvPr/>
        </p:nvSpPr>
        <p:spPr>
          <a:xfrm>
            <a:off x="0" y="4846320"/>
            <a:ext cx="9143640" cy="2923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81" name="Text 24"/>
          <p:cNvSpPr/>
          <p:nvPr/>
        </p:nvSpPr>
        <p:spPr>
          <a:xfrm>
            <a:off x="0" y="48463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0B4CC"/>
                </a:solidFill>
                <a:effectLst/>
                <a:uFillTx/>
                <a:latin typeface="Calibri"/>
                <a:ea typeface="Calibri"/>
              </a:rPr>
              <a:t>Gracias  ·  Predicción de procedencia de tutelas  ·  Universidad de Medellín  · 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LibreOffice/26.2.3.2$Linux_X86_64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2026-05-27T04:20:26Z</dcterms:created>
  <dc:creator>PptxGenJS</dc:creator>
  <dc:description/>
  <dc:language>en-US</dc:language>
  <cp:lastModifiedBy/>
  <dcterms:modified xsi:type="dcterms:W3CDTF">2026-05-27T01:32:07Z</dcterms:modified>
  <cp:revision>2</cp:revision>
  <dc:subject>PptxGenJS Presentation</dc:subject>
  <dc:title>Predicción de Procedencia de Tutelas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